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39" r:id="rId10"/>
    <p:sldId id="344" r:id="rId11"/>
    <p:sldId id="345" r:id="rId12"/>
    <p:sldId id="340" r:id="rId13"/>
    <p:sldId id="343" r:id="rId14"/>
    <p:sldId id="342" r:id="rId15"/>
    <p:sldId id="341"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rasadd13/Healthcare-Analysis-for-Doctor-Visits.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523723" y="3937518"/>
            <a:ext cx="4189238" cy="1642187"/>
          </a:xfrm>
        </p:spPr>
        <p:txBody>
          <a:bodyPr/>
          <a:lstStyle/>
          <a:p>
            <a:pPr algn="r"/>
            <a:r>
              <a:rPr lang="en-IN" b="0" dirty="0">
                <a:solidFill>
                  <a:schemeClr val="tx1"/>
                </a:solidFill>
              </a:rPr>
              <a:t>Durga Prasad Pampana</a:t>
            </a:r>
          </a:p>
          <a:p>
            <a:pPr algn="r"/>
            <a:r>
              <a:rPr lang="en-US" b="0" dirty="0">
                <a:solidFill>
                  <a:schemeClr val="tx1"/>
                </a:solidFill>
              </a:rPr>
              <a:t>Adikavi Nannaya University College of Engineering</a:t>
            </a:r>
            <a:endParaRPr lang="en-IN" b="0" dirty="0">
              <a:solidFill>
                <a:schemeClr val="tx1"/>
              </a:solidFill>
            </a:endParaRP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012163" y="2775064"/>
            <a:ext cx="6002473" cy="880433"/>
          </a:xfrm>
        </p:spPr>
        <p:txBody>
          <a:bodyPr>
            <a:noAutofit/>
          </a:bodyPr>
          <a:lstStyle/>
          <a:p>
            <a:r>
              <a:rPr lang="en-IN" sz="2600" b="1" dirty="0"/>
              <a:t>Healthcare Analytics for Doctor </a:t>
            </a:r>
            <a:r>
              <a:rPr lang="en-IN" sz="2600" b="1" dirty="0" err="1"/>
              <a:t>Visits_TIRTC</a:t>
            </a:r>
            <a:endParaRPr lang="en-IN" sz="26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165149" y="1744928"/>
            <a:ext cx="6431280" cy="3607987"/>
          </a:xfrm>
        </p:spPr>
        <p:txBody>
          <a:bodyPr>
            <a:normAutofit fontScale="92500" lnSpcReduction="20000"/>
          </a:bodyPr>
          <a:lstStyle/>
          <a:p>
            <a:r>
              <a:rPr lang="en-IN" sz="2800" dirty="0"/>
              <a:t>To </a:t>
            </a:r>
            <a:r>
              <a:rPr lang="en-IN" sz="2800" dirty="0" err="1"/>
              <a:t>analyze</a:t>
            </a:r>
            <a:r>
              <a:rPr lang="en-IN" sz="2800" dirty="0"/>
              <a:t> doctor visit patterns and identify how factors such as age, gender, income, illness, health status, healthcare access, and chronic conditions influence healthcare utilization.</a:t>
            </a:r>
          </a:p>
          <a:p>
            <a:r>
              <a:rPr lang="en-IN" sz="2800" dirty="0"/>
              <a:t>Goal: Generate data-driven insights to understand which patient groups have higher doctor visits and support better healthcare planning.</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a:bodyPr>
          <a:lstStyle/>
          <a:p>
            <a:r>
              <a:rPr lang="en-GB" dirty="0"/>
              <a:t>Project Description</a:t>
            </a: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0350CDB5-3C33-CF3E-52C2-096FE9DF7A52}"/>
              </a:ext>
            </a:extLst>
          </p:cNvPr>
          <p:cNvSpPr txBox="1"/>
          <p:nvPr/>
        </p:nvSpPr>
        <p:spPr>
          <a:xfrm>
            <a:off x="1296955" y="1931437"/>
            <a:ext cx="7343192" cy="3293209"/>
          </a:xfrm>
          <a:prstGeom prst="rect">
            <a:avLst/>
          </a:prstGeom>
          <a:noFill/>
        </p:spPr>
        <p:txBody>
          <a:bodyPr wrap="square" rtlCol="0">
            <a:spAutoFit/>
          </a:bodyPr>
          <a:lstStyle/>
          <a:p>
            <a:pPr algn="just"/>
            <a:r>
              <a:rPr lang="en-IN" sz="2600" dirty="0"/>
              <a:t>This project uses Python, Pandas and data visualization to </a:t>
            </a:r>
            <a:r>
              <a:rPr lang="en-IN" sz="2600" dirty="0" err="1"/>
              <a:t>analyze</a:t>
            </a:r>
            <a:r>
              <a:rPr lang="en-IN" sz="2600" dirty="0"/>
              <a:t> visit patterns. It explores how illness, health status, age groups, and chronic conditions are associated with healthcare utilization. The insights help hospital management understand patient needs and identify opportunities to improve healthcare services.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lvl="0"/>
            <a:r>
              <a:rPr lang="en-IN" sz="3600" b="1" dirty="0"/>
              <a:t>Doctors &amp; Healthcare Professionals </a:t>
            </a:r>
            <a:r>
              <a:rPr lang="en-IN" sz="3600" dirty="0"/>
              <a:t>– Understand patient visit patterns. </a:t>
            </a:r>
          </a:p>
          <a:p>
            <a:pPr lvl="0"/>
            <a:r>
              <a:rPr lang="en-IN" sz="3600" b="1" dirty="0"/>
              <a:t>Hospitals &amp; Clinics </a:t>
            </a:r>
            <a:r>
              <a:rPr lang="en-IN" sz="3600" dirty="0"/>
              <a:t>– Improve resource and staff planning. </a:t>
            </a:r>
          </a:p>
          <a:p>
            <a:pPr lvl="0"/>
            <a:r>
              <a:rPr lang="en-IN" sz="3600" b="1" dirty="0"/>
              <a:t>Healthcare Administrators </a:t>
            </a:r>
            <a:r>
              <a:rPr lang="en-IN" sz="3600" dirty="0"/>
              <a:t>– Monitor healthcare utilization. </a:t>
            </a:r>
          </a:p>
          <a:p>
            <a:pPr lvl="0"/>
            <a:r>
              <a:rPr lang="en-IN" sz="3600" b="1" dirty="0"/>
              <a:t>Government &amp; Public Health Organizations </a:t>
            </a:r>
            <a:r>
              <a:rPr lang="en-IN" sz="3600" dirty="0"/>
              <a:t>– Identify healthcare needs across different groups. </a:t>
            </a:r>
          </a:p>
          <a:p>
            <a:pPr lvl="0"/>
            <a:r>
              <a:rPr lang="en-IN" sz="3600" b="1" dirty="0"/>
              <a:t>Researchers &amp; Data Analysts </a:t>
            </a:r>
            <a:r>
              <a:rPr lang="en-IN" sz="3600" dirty="0"/>
              <a:t>– Study healthcare trends and patterns.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92898" y="1432560"/>
            <a:ext cx="7925422" cy="4436395"/>
          </a:xfrm>
        </p:spPr>
        <p:txBody>
          <a:bodyPr/>
          <a:lstStyle/>
          <a:p>
            <a:pPr lvl="0"/>
            <a:r>
              <a:rPr lang="en-IN" b="1" dirty="0"/>
              <a:t>Python</a:t>
            </a:r>
            <a:r>
              <a:rPr lang="en-IN" dirty="0"/>
              <a:t> – Data analysis and processing </a:t>
            </a:r>
          </a:p>
          <a:p>
            <a:pPr lvl="0"/>
            <a:r>
              <a:rPr lang="en-IN" b="1" dirty="0"/>
              <a:t>Pandas</a:t>
            </a:r>
            <a:r>
              <a:rPr lang="en-IN" dirty="0"/>
              <a:t> – Data cleaning, manipulation, and analysis </a:t>
            </a:r>
          </a:p>
          <a:p>
            <a:pPr lvl="0"/>
            <a:r>
              <a:rPr lang="en-IN" b="1" dirty="0"/>
              <a:t>NumPy</a:t>
            </a:r>
            <a:r>
              <a:rPr lang="en-IN" dirty="0"/>
              <a:t> – Numerical computations </a:t>
            </a:r>
          </a:p>
          <a:p>
            <a:pPr lvl="0"/>
            <a:r>
              <a:rPr lang="en-IN" b="1" dirty="0"/>
              <a:t>Matplotlib</a:t>
            </a:r>
            <a:r>
              <a:rPr lang="en-IN" dirty="0"/>
              <a:t> – Data visualization and charts </a:t>
            </a:r>
          </a:p>
          <a:p>
            <a:pPr lvl="0"/>
            <a:r>
              <a:rPr lang="en-IN" b="1" dirty="0"/>
              <a:t>Seaborn</a:t>
            </a:r>
            <a:r>
              <a:rPr lang="en-IN" dirty="0"/>
              <a:t> – Statistical visualization and correlation analysis </a:t>
            </a:r>
          </a:p>
          <a:p>
            <a:pPr lvl="0"/>
            <a:r>
              <a:rPr lang="en-IN" b="1" dirty="0"/>
              <a:t>Google </a:t>
            </a:r>
            <a:r>
              <a:rPr lang="en-IN" b="1" dirty="0" err="1"/>
              <a:t>Colab</a:t>
            </a:r>
            <a:r>
              <a:rPr lang="en-IN" dirty="0"/>
              <a:t>– Development and analysis environment </a:t>
            </a:r>
          </a:p>
          <a:p>
            <a:pPr lvl="0"/>
            <a:r>
              <a:rPr lang="en-IN" b="1" dirty="0"/>
              <a:t>Excel/CSV</a:t>
            </a:r>
            <a:r>
              <a:rPr lang="en-IN" dirty="0"/>
              <a:t> – Dataset storage and input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6" name="Picture 5">
            <a:extLst>
              <a:ext uri="{FF2B5EF4-FFF2-40B4-BE49-F238E27FC236}">
                <a16:creationId xmlns:a16="http://schemas.microsoft.com/office/drawing/2014/main" id="{C3AB80BD-20E9-A53E-0FC5-244CEFF19631}"/>
              </a:ext>
            </a:extLst>
          </p:cNvPr>
          <p:cNvPicPr>
            <a:picLocks noChangeAspect="1"/>
          </p:cNvPicPr>
          <p:nvPr/>
        </p:nvPicPr>
        <p:blipFill>
          <a:blip r:embed="rId4"/>
          <a:stretch>
            <a:fillRect/>
          </a:stretch>
        </p:blipFill>
        <p:spPr>
          <a:xfrm>
            <a:off x="1284785" y="1275371"/>
            <a:ext cx="6659231" cy="476699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67FF3-A28E-E634-C2DF-9D1C47A6D72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53AC1AC-E2B8-90F4-3060-9FB7D545653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6C2E37D-D262-1621-4522-318143B31ECC}"/>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1F255B1-998F-A5B6-F3B0-B8D8250AABD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6BB68DF-6584-22B9-D479-FD8F4D3CEB64}"/>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hlinkClick r:id="rId3"/>
              </a:rPr>
              <a:t> </a:t>
            </a:r>
            <a:r>
              <a:rPr lang="en-GB" sz="2000" b="0" u="sng" dirty="0">
                <a:solidFill>
                  <a:srgbClr val="0070C0"/>
                </a:solidFill>
                <a:hlinkClick r:id="rId3"/>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292A0EFA-FBE2-AA85-1283-13DFA6652D9F}"/>
              </a:ext>
            </a:extLst>
          </p:cNvPr>
          <p:cNvPicPr>
            <a:picLocks noChangeAspect="1"/>
          </p:cNvPicPr>
          <p:nvPr/>
        </p:nvPicPr>
        <p:blipFill>
          <a:blip r:embed="rId4"/>
          <a:stretch>
            <a:fillRect/>
          </a:stretch>
        </p:blipFill>
        <p:spPr>
          <a:xfrm>
            <a:off x="1147566" y="1403981"/>
            <a:ext cx="6624833" cy="4742367"/>
          </a:xfrm>
          <a:prstGeom prst="rect">
            <a:avLst/>
          </a:prstGeom>
        </p:spPr>
      </p:pic>
    </p:spTree>
    <p:extLst>
      <p:ext uri="{BB962C8B-B14F-4D97-AF65-F5344CB8AC3E}">
        <p14:creationId xmlns:p14="http://schemas.microsoft.com/office/powerpoint/2010/main" val="385817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AD24B-EA47-C5D4-C4AA-313E4B2284B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1A49D40-12D1-2558-AAE4-2819771D52C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0DD97F9-3D7A-54E1-780D-5AAE4D6F2269}"/>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CFCABF0-9951-AEB3-9E26-3E4C28C6AEA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050A194E-4A7C-17E8-FC99-4C9434EA5FD2}"/>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6" name="Picture 5">
            <a:extLst>
              <a:ext uri="{FF2B5EF4-FFF2-40B4-BE49-F238E27FC236}">
                <a16:creationId xmlns:a16="http://schemas.microsoft.com/office/drawing/2014/main" id="{7033B8EA-A431-2E24-AC9F-261A1DB8F340}"/>
              </a:ext>
            </a:extLst>
          </p:cNvPr>
          <p:cNvPicPr>
            <a:picLocks noChangeAspect="1"/>
          </p:cNvPicPr>
          <p:nvPr/>
        </p:nvPicPr>
        <p:blipFill>
          <a:blip r:embed="rId4"/>
          <a:stretch>
            <a:fillRect/>
          </a:stretch>
        </p:blipFill>
        <p:spPr>
          <a:xfrm>
            <a:off x="1747519" y="1480395"/>
            <a:ext cx="5184658" cy="4160528"/>
          </a:xfrm>
          <a:prstGeom prst="rect">
            <a:avLst/>
          </a:prstGeom>
        </p:spPr>
      </p:pic>
    </p:spTree>
    <p:extLst>
      <p:ext uri="{BB962C8B-B14F-4D97-AF65-F5344CB8AC3E}">
        <p14:creationId xmlns:p14="http://schemas.microsoft.com/office/powerpoint/2010/main" val="405378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16642-4915-29D6-F542-655FB7D8099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11AEFF5-3C5F-4818-AAE3-D63B3E48473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2E4B32C-22CF-4504-85C4-78107F43C972}"/>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1E285D1-6C06-BDFB-E52E-4F81407B0C8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9637663-9BFF-7878-F3D6-53E7041513BF}"/>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5DB251B4-8D98-B876-4DA4-F072C4E18E61}"/>
              </a:ext>
            </a:extLst>
          </p:cNvPr>
          <p:cNvPicPr>
            <a:picLocks noChangeAspect="1"/>
          </p:cNvPicPr>
          <p:nvPr/>
        </p:nvPicPr>
        <p:blipFill>
          <a:blip r:embed="rId4"/>
          <a:stretch>
            <a:fillRect/>
          </a:stretch>
        </p:blipFill>
        <p:spPr>
          <a:xfrm>
            <a:off x="1465273" y="1439754"/>
            <a:ext cx="6437389" cy="4297689"/>
          </a:xfrm>
          <a:prstGeom prst="rect">
            <a:avLst/>
          </a:prstGeom>
        </p:spPr>
      </p:pic>
    </p:spTree>
    <p:extLst>
      <p:ext uri="{BB962C8B-B14F-4D97-AF65-F5344CB8AC3E}">
        <p14:creationId xmlns:p14="http://schemas.microsoft.com/office/powerpoint/2010/main" val="2436773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045D6-FFBE-AE2D-5A6F-4F177BDE12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5811C0-F3B1-4391-B66E-C6208B9CB6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E3C56EC-BCBB-F385-C339-0553B353AE7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9E003A-958C-2F18-27F3-5EE697ACE1B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6F196607-2DF0-AC2A-305D-E6DF88542A29}"/>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A37313E1-ADAC-C9FB-1D3A-98EBF07FF071}"/>
              </a:ext>
            </a:extLst>
          </p:cNvPr>
          <p:cNvPicPr>
            <a:picLocks noChangeAspect="1"/>
          </p:cNvPicPr>
          <p:nvPr/>
        </p:nvPicPr>
        <p:blipFill>
          <a:blip r:embed="rId4"/>
          <a:stretch>
            <a:fillRect/>
          </a:stretch>
        </p:blipFill>
        <p:spPr>
          <a:xfrm>
            <a:off x="1764794" y="1275371"/>
            <a:ext cx="7022606" cy="5001778"/>
          </a:xfrm>
          <a:prstGeom prst="rect">
            <a:avLst/>
          </a:prstGeom>
        </p:spPr>
      </p:pic>
    </p:spTree>
    <p:extLst>
      <p:ext uri="{BB962C8B-B14F-4D97-AF65-F5344CB8AC3E}">
        <p14:creationId xmlns:p14="http://schemas.microsoft.com/office/powerpoint/2010/main" val="246431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2150D-2AAC-67A1-4BB7-307E28545D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BDF707-BDB0-91A4-3B7A-3A183027B83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6A4D442-F8E6-820E-D261-C344DBDFC5B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DE337FC-9F86-A503-1F59-1F1E0010DF50}"/>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3CB9B976-A2E4-B2AE-A715-088F2BEB189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759E950F-F118-A288-CAD5-072F9816C32B}"/>
              </a:ext>
            </a:extLst>
          </p:cNvPr>
          <p:cNvPicPr>
            <a:picLocks noChangeAspect="1"/>
          </p:cNvPicPr>
          <p:nvPr/>
        </p:nvPicPr>
        <p:blipFill>
          <a:blip r:embed="rId4"/>
          <a:stretch>
            <a:fillRect/>
          </a:stretch>
        </p:blipFill>
        <p:spPr>
          <a:xfrm>
            <a:off x="1399033" y="1395512"/>
            <a:ext cx="7388367" cy="4709169"/>
          </a:xfrm>
          <a:prstGeom prst="rect">
            <a:avLst/>
          </a:prstGeom>
        </p:spPr>
      </p:pic>
    </p:spTree>
    <p:extLst>
      <p:ext uri="{BB962C8B-B14F-4D97-AF65-F5344CB8AC3E}">
        <p14:creationId xmlns:p14="http://schemas.microsoft.com/office/powerpoint/2010/main" val="364959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1F254-8090-914E-7533-16BA741583E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7F5152-B7A2-627D-7301-69735335954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E2A0065-A7E2-8889-78D8-99F421ADF16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F760795-5D8A-C998-52EA-1B86409F24C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BF496235-1CF7-D7E3-56F0-94C0C62D5DCE}"/>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pic>
        <p:nvPicPr>
          <p:cNvPr id="2" name="Picture 1">
            <a:extLst>
              <a:ext uri="{FF2B5EF4-FFF2-40B4-BE49-F238E27FC236}">
                <a16:creationId xmlns:a16="http://schemas.microsoft.com/office/drawing/2014/main" id="{92F8667E-4F14-C4F4-83C4-01F475303BEA}"/>
              </a:ext>
            </a:extLst>
          </p:cNvPr>
          <p:cNvPicPr>
            <a:picLocks noChangeAspect="1"/>
          </p:cNvPicPr>
          <p:nvPr/>
        </p:nvPicPr>
        <p:blipFill>
          <a:blip r:embed="rId4"/>
          <a:stretch>
            <a:fillRect/>
          </a:stretch>
        </p:blipFill>
        <p:spPr>
          <a:xfrm>
            <a:off x="1082788" y="1201586"/>
            <a:ext cx="8284709" cy="4928626"/>
          </a:xfrm>
          <a:prstGeom prst="rect">
            <a:avLst/>
          </a:prstGeom>
        </p:spPr>
      </p:pic>
    </p:spTree>
    <p:extLst>
      <p:ext uri="{BB962C8B-B14F-4D97-AF65-F5344CB8AC3E}">
        <p14:creationId xmlns:p14="http://schemas.microsoft.com/office/powerpoint/2010/main" val="786399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700"/>
            <a:ext cx="11340000" cy="4568112"/>
          </a:xfrm>
          <a:prstGeom prst="rect">
            <a:avLst/>
          </a:prstGeom>
        </p:spPr>
        <p:txBody>
          <a:bodyPr anchor="ctr">
            <a:normAutofit/>
          </a:bodyPr>
          <a:lstStyle/>
          <a:p>
            <a:pPr algn="ctr"/>
            <a:r>
              <a:rPr lang="en-US" sz="54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582</TotalTime>
  <Words>261</Words>
  <Application>Microsoft Office PowerPoint</Application>
  <PresentationFormat>Widescreen</PresentationFormat>
  <Paragraphs>40</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Healthcare Analytics for Doctor Visits_TIRTC</vt:lpstr>
      <vt:lpstr>PROBLEM  STATEMENT</vt:lpstr>
      <vt:lpstr>Project Description</vt:lpstr>
      <vt:lpstr>WHO ARE THE END USERS?</vt:lpstr>
      <vt:lpstr>Technology Used</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Durga Prasad Pampana</cp:lastModifiedBy>
  <cp:revision>76</cp:revision>
  <dcterms:created xsi:type="dcterms:W3CDTF">2021-07-11T13:13:15Z</dcterms:created>
  <dcterms:modified xsi:type="dcterms:W3CDTF">2026-09-18T05:32:39Z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